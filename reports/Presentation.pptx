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2" d="100"/>
          <a:sy n="82" d="100"/>
        </p:scale>
        <p:origin x="1056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5942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0" Type="http://schemas.openxmlformats.org/officeDocument/2006/relationships/image" Target="../media/image10.png"/><Relationship Id="rId4" Type="http://schemas.openxmlformats.org/officeDocument/2006/relationships/image" Target="../media/image13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12.png"/><Relationship Id="rId5" Type="http://schemas.openxmlformats.org/officeDocument/2006/relationships/image" Target="../media/image17.png"/><Relationship Id="rId10" Type="http://schemas.openxmlformats.org/officeDocument/2006/relationships/image" Target="../media/image28.png"/><Relationship Id="rId4" Type="http://schemas.openxmlformats.org/officeDocument/2006/relationships/image" Target="../media/image24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9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3.png"/><Relationship Id="rId10" Type="http://schemas.openxmlformats.org/officeDocument/2006/relationships/image" Target="../media/image34.png"/><Relationship Id="rId4" Type="http://schemas.openxmlformats.org/officeDocument/2006/relationships/image" Target="../media/image11.png"/><Relationship Id="rId9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5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36.png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1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24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41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645920"/>
            <a:ext cx="3840480" cy="384048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463040" y="3291840"/>
            <a:ext cx="3108960" cy="310896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680960" y="2743200"/>
            <a:ext cx="2011680" cy="2011680"/>
          </a:xfrm>
          <a:prstGeom prst="ellipse">
            <a:avLst/>
          </a:prstGeom>
          <a:solidFill>
            <a:srgbClr val="2E5EA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28016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BLUESTOCK MUTUAL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 ANALYTICS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Mutual Fund Data Analytics using Python, SQL &amp; Power BI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37673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Ashwini Sharma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4315968"/>
            <a:ext cx="512064" cy="512064"/>
          </a:xfrm>
          <a:prstGeom prst="ellipse">
            <a:avLst/>
          </a:prstGeom>
          <a:solidFill>
            <a:srgbClr val="2A357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649" y="4387657"/>
            <a:ext cx="368686" cy="36868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66928" y="4864608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304288" y="4315968"/>
            <a:ext cx="512064" cy="512064"/>
          </a:xfrm>
          <a:prstGeom prst="ellipse">
            <a:avLst/>
          </a:prstGeom>
          <a:solidFill>
            <a:srgbClr val="2A357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5977" y="4387657"/>
            <a:ext cx="368686" cy="36868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048256" y="4864608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785616" y="4315968"/>
            <a:ext cx="512064" cy="512064"/>
          </a:xfrm>
          <a:prstGeom prst="ellipse">
            <a:avLst/>
          </a:prstGeom>
          <a:solidFill>
            <a:srgbClr val="2A357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7305" y="4387657"/>
            <a:ext cx="368686" cy="36868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529584" y="4864608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5266944" y="4315968"/>
            <a:ext cx="512064" cy="512064"/>
          </a:xfrm>
          <a:prstGeom prst="ellipse">
            <a:avLst/>
          </a:prstGeom>
          <a:solidFill>
            <a:srgbClr val="2A357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8633" y="4387657"/>
            <a:ext cx="368686" cy="36868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010912" y="4864608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6748272" y="4315968"/>
            <a:ext cx="512064" cy="512064"/>
          </a:xfrm>
          <a:prstGeom prst="ellipse">
            <a:avLst/>
          </a:prstGeom>
          <a:solidFill>
            <a:srgbClr val="2A357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9961" y="4387657"/>
            <a:ext cx="368686" cy="36868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492240" y="4864608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Bluestock Mutual Fund Analytics project delivers an end-to-end solution for analysing mutual fund data using Python, SQL, and Power BI. It automates data collection, cleaning, performance analysis, advanced analytics, and dashboard creation to support informed investment decisions.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48640" y="36118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5E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8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Analysed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965960" y="36118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5E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965960" y="41148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8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383280" y="36118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5E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83280" y="41148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8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92040" y="1097280"/>
            <a:ext cx="3703320" cy="3520440"/>
          </a:xfrm>
          <a:prstGeom prst="roundRect">
            <a:avLst>
              <a:gd name="adj" fmla="val 3117"/>
            </a:avLst>
          </a:prstGeom>
          <a:solidFill>
            <a:srgbClr val="F5F8FD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166360" y="1298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7C8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WORKFLOW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166360" y="173736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2687" y="1793687"/>
            <a:ext cx="289682" cy="28968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687568" y="17556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367528" y="2157984"/>
            <a:ext cx="0" cy="146304"/>
          </a:xfrm>
          <a:prstGeom prst="line">
            <a:avLst/>
          </a:prstGeom>
          <a:noFill/>
          <a:ln w="19050">
            <a:solidFill>
              <a:srgbClr val="AEB9DE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5166360" y="230428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2687" y="2360615"/>
            <a:ext cx="289682" cy="28968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687568" y="23225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Validation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367528" y="2724912"/>
            <a:ext cx="0" cy="146304"/>
          </a:xfrm>
          <a:prstGeom prst="line">
            <a:avLst/>
          </a:prstGeom>
          <a:noFill/>
          <a:ln w="19050">
            <a:solidFill>
              <a:srgbClr val="AEB9DE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5166360" y="287121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2687" y="2927543"/>
            <a:ext cx="289682" cy="28968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687568" y="28895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5367528" y="3291840"/>
            <a:ext cx="0" cy="146304"/>
          </a:xfrm>
          <a:prstGeom prst="line">
            <a:avLst/>
          </a:prstGeom>
          <a:noFill/>
          <a:ln w="19050">
            <a:solidFill>
              <a:srgbClr val="AEB9DE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5166360" y="343814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2687" y="3494471"/>
            <a:ext cx="289682" cy="28968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687568" y="34564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5367528" y="3858768"/>
            <a:ext cx="0" cy="146304"/>
          </a:xfrm>
          <a:prstGeom prst="line">
            <a:avLst/>
          </a:prstGeom>
          <a:noFill/>
          <a:ln w="19050">
            <a:solidFill>
              <a:srgbClr val="AEB9DE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2"/>
          <p:cNvSpPr/>
          <p:nvPr/>
        </p:nvSpPr>
        <p:spPr>
          <a:xfrm>
            <a:off x="5166360" y="400507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22687" y="4061399"/>
            <a:ext cx="289682" cy="28968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687568" y="4023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457200" y="47594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B7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</a:t>
            </a:r>
            <a:endParaRPr lang="en-US" sz="850" dirty="0"/>
          </a:p>
        </p:txBody>
      </p:sp>
      <p:sp>
        <p:nvSpPr>
          <p:cNvPr id="32" name="Text 25"/>
          <p:cNvSpPr/>
          <p:nvPr/>
        </p:nvSpPr>
        <p:spPr>
          <a:xfrm>
            <a:off x="850392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9776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31520" y="138074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444752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35024" y="1188720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mutual fund datasets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800600" y="1188720"/>
            <a:ext cx="39776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4983480" y="138074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1444752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86984" y="1188720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validate data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2075688"/>
            <a:ext cx="39776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731520" y="22677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2331720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35024" y="2075688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data in SQLite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800600" y="2075688"/>
            <a:ext cx="39776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4983480" y="22677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7488" y="2331720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86984" y="2075688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Exploratory Data Analysis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548640" y="2962656"/>
            <a:ext cx="39776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4"/>
          <p:cNvSpPr/>
          <p:nvPr/>
        </p:nvSpPr>
        <p:spPr>
          <a:xfrm>
            <a:off x="731520" y="3154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" y="321868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35024" y="2962656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financial performance metrics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4800600" y="2962656"/>
            <a:ext cx="39776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7"/>
          <p:cNvSpPr/>
          <p:nvPr/>
        </p:nvSpPr>
        <p:spPr>
          <a:xfrm>
            <a:off x="4983480" y="3154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7488" y="3218688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586984" y="2962656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Power BI Dashboard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548640" y="3849624"/>
            <a:ext cx="39776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0"/>
          <p:cNvSpPr/>
          <p:nvPr/>
        </p:nvSpPr>
        <p:spPr>
          <a:xfrm>
            <a:off x="731520" y="40416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5528" y="4105656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335024" y="3849624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Advanced Analytics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4800600" y="3849624"/>
            <a:ext cx="39776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3"/>
          <p:cNvSpPr/>
          <p:nvPr/>
        </p:nvSpPr>
        <p:spPr>
          <a:xfrm>
            <a:off x="4983480" y="40416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47488" y="4105656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586984" y="3849624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investment recommendations</a:t>
            </a:r>
            <a:endParaRPr lang="en-US" sz="1300" dirty="0"/>
          </a:p>
        </p:txBody>
      </p:sp>
      <p:sp>
        <p:nvSpPr>
          <p:cNvPr id="35" name="Text 25"/>
          <p:cNvSpPr/>
          <p:nvPr/>
        </p:nvSpPr>
        <p:spPr>
          <a:xfrm>
            <a:off x="457200" y="47594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B7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</a:t>
            </a:r>
            <a:endParaRPr lang="en-US" sz="850" dirty="0"/>
          </a:p>
        </p:txBody>
      </p:sp>
      <p:sp>
        <p:nvSpPr>
          <p:cNvPr id="36" name="Text 26"/>
          <p:cNvSpPr/>
          <p:nvPr/>
        </p:nvSpPr>
        <p:spPr>
          <a:xfrm>
            <a:off x="850392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C8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actionable insight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868680" cy="1051560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2093976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29768" y="2478024"/>
            <a:ext cx="1014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2920" y="161848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87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4213" y="2409444"/>
            <a:ext cx="164592" cy="16459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541417" y="1965960"/>
            <a:ext cx="868680" cy="1051560"/>
          </a:xfrm>
          <a:prstGeom prst="roundRect">
            <a:avLst>
              <a:gd name="adj" fmla="val 10526"/>
            </a:avLst>
          </a:prstGeom>
          <a:solidFill>
            <a:srgbClr val="2E5EAA"/>
          </a:solidFill>
          <a:ln/>
          <a:effectLst>
            <a:outerShdw blurRad="635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2021" y="2093976"/>
            <a:ext cx="347472" cy="3474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68265" y="2478024"/>
            <a:ext cx="1014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1541417" y="161848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87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2710" y="2409444"/>
            <a:ext cx="164592" cy="164592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2579914" y="1965960"/>
            <a:ext cx="868680" cy="1051560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0518" y="2093976"/>
            <a:ext cx="347472" cy="34747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506762" y="2478024"/>
            <a:ext cx="1014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50" dirty="0"/>
          </a:p>
        </p:txBody>
      </p:sp>
      <p:sp>
        <p:nvSpPr>
          <p:cNvPr id="17" name="Text 10"/>
          <p:cNvSpPr/>
          <p:nvPr/>
        </p:nvSpPr>
        <p:spPr>
          <a:xfrm>
            <a:off x="2579914" y="161848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87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1207" y="2409444"/>
            <a:ext cx="164592" cy="164592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3618411" y="1965960"/>
            <a:ext cx="868680" cy="1051560"/>
          </a:xfrm>
          <a:prstGeom prst="roundRect">
            <a:avLst>
              <a:gd name="adj" fmla="val 10526"/>
            </a:avLst>
          </a:prstGeom>
          <a:solidFill>
            <a:srgbClr val="2E5EAA"/>
          </a:solidFill>
          <a:ln/>
          <a:effectLst>
            <a:outerShdw blurRad="635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79015" y="2093976"/>
            <a:ext cx="347472" cy="347472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3545259" y="2478024"/>
            <a:ext cx="1014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950" dirty="0"/>
          </a:p>
        </p:txBody>
      </p:sp>
      <p:sp>
        <p:nvSpPr>
          <p:cNvPr id="22" name="Text 13"/>
          <p:cNvSpPr/>
          <p:nvPr/>
        </p:nvSpPr>
        <p:spPr>
          <a:xfrm>
            <a:off x="3618411" y="161848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87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9704" y="2409444"/>
            <a:ext cx="164592" cy="164592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4656909" y="1965960"/>
            <a:ext cx="868680" cy="1051560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7513" y="2093976"/>
            <a:ext cx="347472" cy="347472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4583757" y="2478024"/>
            <a:ext cx="1014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50" dirty="0"/>
          </a:p>
        </p:txBody>
      </p:sp>
      <p:sp>
        <p:nvSpPr>
          <p:cNvPr id="27" name="Text 16"/>
          <p:cNvSpPr/>
          <p:nvPr/>
        </p:nvSpPr>
        <p:spPr>
          <a:xfrm>
            <a:off x="4656909" y="161848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87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8201" y="2409444"/>
            <a:ext cx="164592" cy="164592"/>
          </a:xfrm>
          <a:prstGeom prst="rect">
            <a:avLst/>
          </a:prstGeom>
        </p:spPr>
      </p:pic>
      <p:sp>
        <p:nvSpPr>
          <p:cNvPr id="29" name="Shape 17"/>
          <p:cNvSpPr/>
          <p:nvPr/>
        </p:nvSpPr>
        <p:spPr>
          <a:xfrm>
            <a:off x="5695406" y="1965960"/>
            <a:ext cx="868680" cy="1051560"/>
          </a:xfrm>
          <a:prstGeom prst="roundRect">
            <a:avLst>
              <a:gd name="adj" fmla="val 10526"/>
            </a:avLst>
          </a:prstGeom>
          <a:solidFill>
            <a:srgbClr val="2E5EAA"/>
          </a:solidFill>
          <a:ln/>
          <a:effectLst>
            <a:outerShdw blurRad="635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56010" y="2093976"/>
            <a:ext cx="347472" cy="347472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5622254" y="2478024"/>
            <a:ext cx="1014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50" dirty="0"/>
          </a:p>
        </p:txBody>
      </p:sp>
      <p:sp>
        <p:nvSpPr>
          <p:cNvPr id="32" name="Text 19"/>
          <p:cNvSpPr/>
          <p:nvPr/>
        </p:nvSpPr>
        <p:spPr>
          <a:xfrm>
            <a:off x="5695406" y="161848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87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6698" y="2409444"/>
            <a:ext cx="164592" cy="164592"/>
          </a:xfrm>
          <a:prstGeom prst="rect">
            <a:avLst/>
          </a:prstGeom>
        </p:spPr>
      </p:pic>
      <p:sp>
        <p:nvSpPr>
          <p:cNvPr id="34" name="Shape 20"/>
          <p:cNvSpPr/>
          <p:nvPr/>
        </p:nvSpPr>
        <p:spPr>
          <a:xfrm>
            <a:off x="6733903" y="1965960"/>
            <a:ext cx="868680" cy="1051560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/>
          <a:effectLst>
            <a:outerShdw blurRad="635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5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94507" y="2093976"/>
            <a:ext cx="347472" cy="347472"/>
          </a:xfrm>
          <a:prstGeom prst="rect">
            <a:avLst/>
          </a:prstGeom>
        </p:spPr>
      </p:pic>
      <p:sp>
        <p:nvSpPr>
          <p:cNvPr id="36" name="Text 21"/>
          <p:cNvSpPr/>
          <p:nvPr/>
        </p:nvSpPr>
        <p:spPr>
          <a:xfrm>
            <a:off x="6660751" y="2478024"/>
            <a:ext cx="1014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37" name="Text 22"/>
          <p:cNvSpPr/>
          <p:nvPr/>
        </p:nvSpPr>
        <p:spPr>
          <a:xfrm>
            <a:off x="6733903" y="161848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87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100" dirty="0"/>
          </a:p>
        </p:txBody>
      </p:sp>
      <p:pic>
        <p:nvPicPr>
          <p:cNvPr id="38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5195" y="2409444"/>
            <a:ext cx="164592" cy="164592"/>
          </a:xfrm>
          <a:prstGeom prst="rect">
            <a:avLst/>
          </a:prstGeom>
        </p:spPr>
      </p:pic>
      <p:sp>
        <p:nvSpPr>
          <p:cNvPr id="39" name="Shape 23"/>
          <p:cNvSpPr/>
          <p:nvPr/>
        </p:nvSpPr>
        <p:spPr>
          <a:xfrm>
            <a:off x="7772400" y="1965960"/>
            <a:ext cx="868680" cy="1051560"/>
          </a:xfrm>
          <a:prstGeom prst="roundRect">
            <a:avLst>
              <a:gd name="adj" fmla="val 10526"/>
            </a:avLst>
          </a:prstGeom>
          <a:solidFill>
            <a:srgbClr val="2E5EAA"/>
          </a:solidFill>
          <a:ln/>
          <a:effectLst>
            <a:outerShdw blurRad="635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0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33004" y="2093976"/>
            <a:ext cx="347472" cy="347472"/>
          </a:xfrm>
          <a:prstGeom prst="rect">
            <a:avLst/>
          </a:prstGeom>
        </p:spPr>
      </p:pic>
      <p:sp>
        <p:nvSpPr>
          <p:cNvPr id="41" name="Text 24"/>
          <p:cNvSpPr/>
          <p:nvPr/>
        </p:nvSpPr>
        <p:spPr>
          <a:xfrm>
            <a:off x="7699248" y="2478024"/>
            <a:ext cx="1014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950" dirty="0"/>
          </a:p>
        </p:txBody>
      </p:sp>
      <p:sp>
        <p:nvSpPr>
          <p:cNvPr id="42" name="Text 25"/>
          <p:cNvSpPr/>
          <p:nvPr/>
        </p:nvSpPr>
        <p:spPr>
          <a:xfrm>
            <a:off x="7772400" y="161848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87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100" dirty="0"/>
          </a:p>
        </p:txBody>
      </p:sp>
      <p:sp>
        <p:nvSpPr>
          <p:cNvPr id="43" name="Text 26"/>
          <p:cNvSpPr/>
          <p:nvPr/>
        </p:nvSpPr>
        <p:spPr>
          <a:xfrm>
            <a:off x="457200" y="47594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B7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</a:t>
            </a:r>
            <a:endParaRPr lang="en-US" sz="850" dirty="0"/>
          </a:p>
        </p:txBody>
      </p:sp>
      <p:sp>
        <p:nvSpPr>
          <p:cNvPr id="44" name="Text 27"/>
          <p:cNvSpPr/>
          <p:nvPr/>
        </p:nvSpPr>
        <p:spPr>
          <a:xfrm>
            <a:off x="850392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 Used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7947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94944" y="1316736"/>
            <a:ext cx="365760" cy="365760"/>
          </a:xfrm>
          <a:prstGeom prst="ellipse">
            <a:avLst/>
          </a:prstGeom>
          <a:solidFill>
            <a:srgbClr val="2E5EA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1367942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23444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Master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1892808"/>
            <a:ext cx="37947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694944" y="1975104"/>
            <a:ext cx="365760" cy="365760"/>
          </a:xfrm>
          <a:prstGeom prst="ellipse">
            <a:avLst/>
          </a:prstGeom>
          <a:solidFill>
            <a:srgbClr val="2E5EA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50" y="2026310"/>
            <a:ext cx="263347" cy="26334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189280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History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2551176"/>
            <a:ext cx="37947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694944" y="2633472"/>
            <a:ext cx="365760" cy="365760"/>
          </a:xfrm>
          <a:prstGeom prst="ellipse">
            <a:avLst/>
          </a:prstGeom>
          <a:solidFill>
            <a:srgbClr val="2E5EA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150" y="2684678"/>
            <a:ext cx="263347" cy="26334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0432" y="255117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by Fund House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3209544"/>
            <a:ext cx="37947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694944" y="3291840"/>
            <a:ext cx="365760" cy="365760"/>
          </a:xfrm>
          <a:prstGeom prst="ellipse">
            <a:avLst/>
          </a:prstGeom>
          <a:solidFill>
            <a:srgbClr val="2E5EA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150" y="3343046"/>
            <a:ext cx="263347" cy="26334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70432" y="320954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SIP Inflows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548640" y="3867912"/>
            <a:ext cx="37947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4"/>
          <p:cNvSpPr/>
          <p:nvPr/>
        </p:nvSpPr>
        <p:spPr>
          <a:xfrm>
            <a:off x="694944" y="3950208"/>
            <a:ext cx="365760" cy="365760"/>
          </a:xfrm>
          <a:prstGeom prst="ellipse">
            <a:avLst/>
          </a:prstGeom>
          <a:solidFill>
            <a:srgbClr val="2E5EA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150" y="4001414"/>
            <a:ext cx="263347" cy="26334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70432" y="386791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Inflows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4800600" y="1234440"/>
            <a:ext cx="37947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7"/>
          <p:cNvSpPr/>
          <p:nvPr/>
        </p:nvSpPr>
        <p:spPr>
          <a:xfrm>
            <a:off x="4946904" y="1316736"/>
            <a:ext cx="365760" cy="365760"/>
          </a:xfrm>
          <a:prstGeom prst="ellipse">
            <a:avLst/>
          </a:prstGeom>
          <a:solidFill>
            <a:srgbClr val="2E5EA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8110" y="1367942"/>
            <a:ext cx="263347" cy="263347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422392" y="123444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Folio Count</a:t>
            </a:r>
            <a:endParaRPr lang="en-US" sz="1250" dirty="0"/>
          </a:p>
        </p:txBody>
      </p:sp>
      <p:sp>
        <p:nvSpPr>
          <p:cNvPr id="27" name="Shape 19"/>
          <p:cNvSpPr/>
          <p:nvPr/>
        </p:nvSpPr>
        <p:spPr>
          <a:xfrm>
            <a:off x="4800600" y="1892808"/>
            <a:ext cx="37947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0"/>
          <p:cNvSpPr/>
          <p:nvPr/>
        </p:nvSpPr>
        <p:spPr>
          <a:xfrm>
            <a:off x="4946904" y="1975104"/>
            <a:ext cx="365760" cy="365760"/>
          </a:xfrm>
          <a:prstGeom prst="ellipse">
            <a:avLst/>
          </a:prstGeom>
          <a:solidFill>
            <a:srgbClr val="2E5EA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98110" y="2026310"/>
            <a:ext cx="263347" cy="263347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422392" y="189280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Performance</a:t>
            </a:r>
            <a:endParaRPr lang="en-US" sz="1250" dirty="0"/>
          </a:p>
        </p:txBody>
      </p:sp>
      <p:sp>
        <p:nvSpPr>
          <p:cNvPr id="31" name="Shape 22"/>
          <p:cNvSpPr/>
          <p:nvPr/>
        </p:nvSpPr>
        <p:spPr>
          <a:xfrm>
            <a:off x="4800600" y="2551176"/>
            <a:ext cx="37947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3"/>
          <p:cNvSpPr/>
          <p:nvPr/>
        </p:nvSpPr>
        <p:spPr>
          <a:xfrm>
            <a:off x="4946904" y="2633472"/>
            <a:ext cx="365760" cy="365760"/>
          </a:xfrm>
          <a:prstGeom prst="ellipse">
            <a:avLst/>
          </a:prstGeom>
          <a:solidFill>
            <a:srgbClr val="2E5EA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98110" y="2684678"/>
            <a:ext cx="263347" cy="263347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422392" y="255117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Transactions</a:t>
            </a:r>
            <a:endParaRPr lang="en-US" sz="1250" dirty="0"/>
          </a:p>
        </p:txBody>
      </p:sp>
      <p:sp>
        <p:nvSpPr>
          <p:cNvPr id="35" name="Shape 25"/>
          <p:cNvSpPr/>
          <p:nvPr/>
        </p:nvSpPr>
        <p:spPr>
          <a:xfrm>
            <a:off x="4800600" y="3209544"/>
            <a:ext cx="37947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26"/>
          <p:cNvSpPr/>
          <p:nvPr/>
        </p:nvSpPr>
        <p:spPr>
          <a:xfrm>
            <a:off x="4946904" y="3291840"/>
            <a:ext cx="365760" cy="365760"/>
          </a:xfrm>
          <a:prstGeom prst="ellipse">
            <a:avLst/>
          </a:prstGeom>
          <a:solidFill>
            <a:srgbClr val="2E5EA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98110" y="3343046"/>
            <a:ext cx="263347" cy="263347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5422392" y="320954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Holdings</a:t>
            </a:r>
            <a:endParaRPr lang="en-US" sz="1250" dirty="0"/>
          </a:p>
        </p:txBody>
      </p:sp>
      <p:sp>
        <p:nvSpPr>
          <p:cNvPr id="39" name="Shape 28"/>
          <p:cNvSpPr/>
          <p:nvPr/>
        </p:nvSpPr>
        <p:spPr>
          <a:xfrm>
            <a:off x="4800600" y="3867912"/>
            <a:ext cx="37947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29"/>
          <p:cNvSpPr/>
          <p:nvPr/>
        </p:nvSpPr>
        <p:spPr>
          <a:xfrm>
            <a:off x="4946904" y="3950208"/>
            <a:ext cx="365760" cy="365760"/>
          </a:xfrm>
          <a:prstGeom prst="ellipse">
            <a:avLst/>
          </a:prstGeom>
          <a:solidFill>
            <a:srgbClr val="2E5EA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98110" y="4001414"/>
            <a:ext cx="263347" cy="263347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5422392" y="386791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Indices</a:t>
            </a:r>
            <a:endParaRPr lang="en-US" sz="1250" dirty="0"/>
          </a:p>
        </p:txBody>
      </p:sp>
      <p:sp>
        <p:nvSpPr>
          <p:cNvPr id="43" name="Text 31"/>
          <p:cNvSpPr/>
          <p:nvPr/>
        </p:nvSpPr>
        <p:spPr>
          <a:xfrm>
            <a:off x="457200" y="47594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B7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</a:t>
            </a:r>
            <a:endParaRPr lang="en-US" sz="850" dirty="0"/>
          </a:p>
        </p:txBody>
      </p:sp>
      <p:sp>
        <p:nvSpPr>
          <p:cNvPr id="44" name="Text 32"/>
          <p:cNvSpPr/>
          <p:nvPr/>
        </p:nvSpPr>
        <p:spPr>
          <a:xfrm>
            <a:off x="850392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407" y="1288207"/>
            <a:ext cx="276515" cy="2765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20700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Trend Analysis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3136392" y="12344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0159" y="1288207"/>
            <a:ext cx="276515" cy="27651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593592" y="120700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Growth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48640" y="21031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407" y="2156887"/>
            <a:ext cx="276515" cy="27651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207568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 Analysis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3136392" y="21031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0159" y="2156887"/>
            <a:ext cx="276515" cy="27651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593592" y="207568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Inflows</a:t>
            </a:r>
            <a:endParaRPr lang="en-US" sz="1150" dirty="0"/>
          </a:p>
        </p:txBody>
      </p:sp>
      <p:sp>
        <p:nvSpPr>
          <p:cNvPr id="15" name="Shape 9"/>
          <p:cNvSpPr/>
          <p:nvPr/>
        </p:nvSpPr>
        <p:spPr>
          <a:xfrm>
            <a:off x="548640" y="29718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407" y="3025567"/>
            <a:ext cx="276515" cy="27651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05840" y="294436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Demographics</a:t>
            </a:r>
            <a:endParaRPr lang="en-US" sz="1150" dirty="0"/>
          </a:p>
        </p:txBody>
      </p:sp>
      <p:sp>
        <p:nvSpPr>
          <p:cNvPr id="18" name="Shape 11"/>
          <p:cNvSpPr/>
          <p:nvPr/>
        </p:nvSpPr>
        <p:spPr>
          <a:xfrm>
            <a:off x="3136392" y="29718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90159" y="3025567"/>
            <a:ext cx="276515" cy="27651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3593592" y="294436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Distribution</a:t>
            </a:r>
            <a:endParaRPr lang="en-US" sz="1150" dirty="0"/>
          </a:p>
        </p:txBody>
      </p:sp>
      <p:sp>
        <p:nvSpPr>
          <p:cNvPr id="21" name="Shape 13"/>
          <p:cNvSpPr/>
          <p:nvPr/>
        </p:nvSpPr>
        <p:spPr>
          <a:xfrm>
            <a:off x="548640" y="38404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2407" y="3894247"/>
            <a:ext cx="276515" cy="276515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005840" y="381304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Folio Growth</a:t>
            </a:r>
            <a:endParaRPr lang="en-US" sz="1150" dirty="0"/>
          </a:p>
        </p:txBody>
      </p:sp>
      <p:sp>
        <p:nvSpPr>
          <p:cNvPr id="24" name="Shape 15"/>
          <p:cNvSpPr/>
          <p:nvPr/>
        </p:nvSpPr>
        <p:spPr>
          <a:xfrm>
            <a:off x="3136392" y="38404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90159" y="3894247"/>
            <a:ext cx="276515" cy="276515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3593592" y="381304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1150" dirty="0"/>
          </a:p>
        </p:txBody>
      </p:sp>
      <p:sp>
        <p:nvSpPr>
          <p:cNvPr id="27" name="Shape 17"/>
          <p:cNvSpPr/>
          <p:nvPr/>
        </p:nvSpPr>
        <p:spPr>
          <a:xfrm>
            <a:off x="5623560" y="1234440"/>
            <a:ext cx="2971800" cy="3337560"/>
          </a:xfrm>
          <a:prstGeom prst="roundRect">
            <a:avLst>
              <a:gd name="adj" fmla="val 3692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18"/>
          <p:cNvSpPr/>
          <p:nvPr/>
        </p:nvSpPr>
        <p:spPr>
          <a:xfrm>
            <a:off x="5897880" y="1481328"/>
            <a:ext cx="457200" cy="457200"/>
          </a:xfrm>
          <a:prstGeom prst="ellipse">
            <a:avLst/>
          </a:prstGeom>
          <a:solidFill>
            <a:srgbClr val="2E5EA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61888" y="1545336"/>
            <a:ext cx="329184" cy="329184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5897880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50" dirty="0"/>
          </a:p>
        </p:txBody>
      </p:sp>
      <p:sp>
        <p:nvSpPr>
          <p:cNvPr id="31" name="Text 20"/>
          <p:cNvSpPr/>
          <p:nvPr/>
        </p:nvSpPr>
        <p:spPr>
          <a:xfrm>
            <a:off x="5897880" y="2359152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AUM and SIP investments showed consistent growth throughout the study period.</a:t>
            </a:r>
            <a:endParaRPr lang="en-US" sz="1350" dirty="0"/>
          </a:p>
        </p:txBody>
      </p:sp>
      <p:sp>
        <p:nvSpPr>
          <p:cNvPr id="32" name="Text 21"/>
          <p:cNvSpPr/>
          <p:nvPr/>
        </p:nvSpPr>
        <p:spPr>
          <a:xfrm>
            <a:off x="457200" y="47594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B7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</a:t>
            </a:r>
            <a:endParaRPr lang="en-US" sz="850" dirty="0"/>
          </a:p>
        </p:txBody>
      </p:sp>
      <p:sp>
        <p:nvSpPr>
          <p:cNvPr id="33" name="Text 22"/>
          <p:cNvSpPr/>
          <p:nvPr/>
        </p:nvSpPr>
        <p:spPr>
          <a:xfrm>
            <a:off x="850392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Metrics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07008"/>
            <a:ext cx="193852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280160" y="1408176"/>
            <a:ext cx="475488" cy="475488"/>
          </a:xfrm>
          <a:prstGeom prst="ellipse">
            <a:avLst/>
          </a:prstGeom>
          <a:solidFill>
            <a:srgbClr val="2E5EA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728" y="1474744"/>
            <a:ext cx="342351" cy="3423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029968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Returns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606040" y="1207008"/>
            <a:ext cx="193852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3337560" y="1408176"/>
            <a:ext cx="475488" cy="475488"/>
          </a:xfrm>
          <a:prstGeom prst="ellipse">
            <a:avLst/>
          </a:prstGeom>
          <a:solidFill>
            <a:srgbClr val="2E5EA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4128" y="1474744"/>
            <a:ext cx="342351" cy="34235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97480" y="2029968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663440" y="1207008"/>
            <a:ext cx="193852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5394960" y="1408176"/>
            <a:ext cx="475488" cy="475488"/>
          </a:xfrm>
          <a:prstGeom prst="ellipse">
            <a:avLst/>
          </a:prstGeom>
          <a:solidFill>
            <a:srgbClr val="2E5EA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1528" y="1474744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54880" y="2029968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720840" y="1207008"/>
            <a:ext cx="193852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7452360" y="1408176"/>
            <a:ext cx="475488" cy="475488"/>
          </a:xfrm>
          <a:prstGeom prst="ellipse">
            <a:avLst/>
          </a:prstGeom>
          <a:solidFill>
            <a:srgbClr val="2E5EA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8928" y="1474744"/>
            <a:ext cx="342351" cy="34235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12280" y="2029968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Sortino Ratio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48640" y="2807208"/>
            <a:ext cx="193852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4"/>
          <p:cNvSpPr/>
          <p:nvPr/>
        </p:nvSpPr>
        <p:spPr>
          <a:xfrm>
            <a:off x="1280160" y="3008376"/>
            <a:ext cx="475488" cy="475488"/>
          </a:xfrm>
          <a:prstGeom prst="ellipse">
            <a:avLst/>
          </a:prstGeom>
          <a:solidFill>
            <a:srgbClr val="2E5EA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6728" y="3074944"/>
            <a:ext cx="342351" cy="34235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0080" y="3630168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2606040" y="2807208"/>
            <a:ext cx="193852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7"/>
          <p:cNvSpPr/>
          <p:nvPr/>
        </p:nvSpPr>
        <p:spPr>
          <a:xfrm>
            <a:off x="3337560" y="3008376"/>
            <a:ext cx="475488" cy="475488"/>
          </a:xfrm>
          <a:prstGeom prst="ellipse">
            <a:avLst/>
          </a:prstGeom>
          <a:solidFill>
            <a:srgbClr val="2E5EA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04128" y="3074944"/>
            <a:ext cx="342351" cy="34235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697480" y="3630168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4663440" y="2807208"/>
            <a:ext cx="193852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0"/>
          <p:cNvSpPr/>
          <p:nvPr/>
        </p:nvSpPr>
        <p:spPr>
          <a:xfrm>
            <a:off x="5394960" y="3008376"/>
            <a:ext cx="475488" cy="475488"/>
          </a:xfrm>
          <a:prstGeom prst="ellipse">
            <a:avLst/>
          </a:prstGeom>
          <a:solidFill>
            <a:srgbClr val="2E5EA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61528" y="3074944"/>
            <a:ext cx="342351" cy="342351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754880" y="3630168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Error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6720840" y="2807208"/>
            <a:ext cx="193852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3"/>
          <p:cNvSpPr/>
          <p:nvPr/>
        </p:nvSpPr>
        <p:spPr>
          <a:xfrm>
            <a:off x="7452360" y="3008376"/>
            <a:ext cx="475488" cy="475488"/>
          </a:xfrm>
          <a:prstGeom prst="ellipse">
            <a:avLst/>
          </a:prstGeom>
          <a:solidFill>
            <a:srgbClr val="2E5EA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18928" y="3074944"/>
            <a:ext cx="342351" cy="342351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812280" y="3630168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Drawdown</a:t>
            </a:r>
            <a:endParaRPr lang="en-US" sz="1200" dirty="0"/>
          </a:p>
        </p:txBody>
      </p:sp>
      <p:sp>
        <p:nvSpPr>
          <p:cNvPr id="35" name="Shape 25"/>
          <p:cNvSpPr/>
          <p:nvPr/>
        </p:nvSpPr>
        <p:spPr>
          <a:xfrm>
            <a:off x="548640" y="4343400"/>
            <a:ext cx="8046720" cy="475488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26"/>
          <p:cNvSpPr/>
          <p:nvPr/>
        </p:nvSpPr>
        <p:spPr>
          <a:xfrm>
            <a:off x="777240" y="434340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metrics were used to evaluate fund performance and investment risk.</a:t>
            </a:r>
            <a:endParaRPr lang="en-US" sz="1200" dirty="0"/>
          </a:p>
        </p:txBody>
      </p:sp>
      <p:sp>
        <p:nvSpPr>
          <p:cNvPr id="37" name="Text 27"/>
          <p:cNvSpPr/>
          <p:nvPr/>
        </p:nvSpPr>
        <p:spPr>
          <a:xfrm>
            <a:off x="850392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Analytics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624328" cy="1508760"/>
          </a:xfrm>
          <a:prstGeom prst="roundRect">
            <a:avLst>
              <a:gd name="adj" fmla="val 6061"/>
            </a:avLst>
          </a:prstGeom>
          <a:solidFill>
            <a:srgbClr val="F5F8FD"/>
          </a:solidFill>
          <a:ln/>
          <a:effectLst>
            <a:outerShdw blurRad="635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13232" y="13533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99" y="1407079"/>
            <a:ext cx="276515" cy="2765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1810512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at Risk (VaR)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13232" y="210312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C8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potential portfolio loss under normal market conditions.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337560" y="1188720"/>
            <a:ext cx="2624328" cy="1508760"/>
          </a:xfrm>
          <a:prstGeom prst="roundRect">
            <a:avLst>
              <a:gd name="adj" fmla="val 6061"/>
            </a:avLst>
          </a:prstGeom>
          <a:solidFill>
            <a:srgbClr val="F5F8FD"/>
          </a:solidFill>
          <a:ln/>
          <a:effectLst>
            <a:outerShdw blurRad="635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3502152" y="13533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5919" y="1407079"/>
            <a:ext cx="276515" cy="27651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02152" y="1810512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Volatility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3502152" y="210312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C8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how risk fluctuates for a fund over time.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126480" y="1188720"/>
            <a:ext cx="2624328" cy="1508760"/>
          </a:xfrm>
          <a:prstGeom prst="roundRect">
            <a:avLst>
              <a:gd name="adj" fmla="val 6061"/>
            </a:avLst>
          </a:prstGeom>
          <a:solidFill>
            <a:srgbClr val="F5F8FD"/>
          </a:solidFill>
          <a:ln/>
          <a:effectLst>
            <a:outerShdw blurRad="635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6291072" y="13533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4839" y="1407079"/>
            <a:ext cx="276515" cy="27651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91072" y="1810512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Sharpe Ratio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291072" y="210312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C8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risk-adjusted return across rolling windows.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548640" y="2862072"/>
            <a:ext cx="2624328" cy="1508760"/>
          </a:xfrm>
          <a:prstGeom prst="roundRect">
            <a:avLst>
              <a:gd name="adj" fmla="val 6061"/>
            </a:avLst>
          </a:prstGeom>
          <a:solidFill>
            <a:srgbClr val="F5F8FD"/>
          </a:solidFill>
          <a:ln/>
          <a:effectLst>
            <a:outerShdw blurRad="635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713232" y="302666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999" y="3080431"/>
            <a:ext cx="276515" cy="27651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3232" y="3483864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Analysis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713232" y="3776472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C8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investors by entry period to study behaviour.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3337560" y="2862072"/>
            <a:ext cx="2624328" cy="1508760"/>
          </a:xfrm>
          <a:prstGeom prst="roundRect">
            <a:avLst>
              <a:gd name="adj" fmla="val 6061"/>
            </a:avLst>
          </a:prstGeom>
          <a:solidFill>
            <a:srgbClr val="F5F8FD"/>
          </a:solidFill>
          <a:ln/>
          <a:effectLst>
            <a:outerShdw blurRad="635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8"/>
          <p:cNvSpPr/>
          <p:nvPr/>
        </p:nvSpPr>
        <p:spPr>
          <a:xfrm>
            <a:off x="3502152" y="302666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5919" y="3080431"/>
            <a:ext cx="276515" cy="27651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502152" y="3483864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Segmentation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3502152" y="3776472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C8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investors by activity and portfolio value.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6126480" y="2862072"/>
            <a:ext cx="2624328" cy="1508760"/>
          </a:xfrm>
          <a:prstGeom prst="roundRect">
            <a:avLst>
              <a:gd name="adj" fmla="val 6061"/>
            </a:avLst>
          </a:prstGeom>
          <a:solidFill>
            <a:srgbClr val="F5F8FD"/>
          </a:solidFill>
          <a:ln/>
          <a:effectLst>
            <a:outerShdw blurRad="635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2"/>
          <p:cNvSpPr/>
          <p:nvPr/>
        </p:nvSpPr>
        <p:spPr>
          <a:xfrm>
            <a:off x="6291072" y="302666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4839" y="3080431"/>
            <a:ext cx="276515" cy="276515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291072" y="3483864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Recommendation System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6291072" y="3776472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C8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funds using CAGR and Sharpe Ratio scoring.</a:t>
            </a:r>
            <a:endParaRPr lang="en-US" sz="950" dirty="0"/>
          </a:p>
        </p:txBody>
      </p:sp>
      <p:sp>
        <p:nvSpPr>
          <p:cNvPr id="33" name="Text 25"/>
          <p:cNvSpPr/>
          <p:nvPr/>
        </p:nvSpPr>
        <p:spPr>
          <a:xfrm>
            <a:off x="54864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 </a:t>
            </a:r>
            <a:r>
              <a:rPr lang="en-US" sz="12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provided deeper insight into investment behaviour and risk.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850392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Power BI for real-time investment insight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136392" y="1307592"/>
            <a:ext cx="5568696" cy="3008376"/>
          </a:xfrm>
          <a:prstGeom prst="roundRect">
            <a:avLst>
              <a:gd name="adj" fmla="val 2432"/>
            </a:avLst>
          </a:prstGeom>
          <a:solidFill>
            <a:srgbClr val="0D1338"/>
          </a:solidFill>
          <a:ln/>
          <a:effectLst>
            <a:outerShdw blurRad="127000" dist="508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46120" y="1417320"/>
            <a:ext cx="5349240" cy="2788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46120" y="258318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EB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Preview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0" y="4334256"/>
            <a:ext cx="6355080" cy="164592"/>
          </a:xfrm>
          <a:prstGeom prst="roundRect">
            <a:avLst>
              <a:gd name="adj" fmla="val 33333"/>
            </a:avLst>
          </a:prstGeom>
          <a:solidFill>
            <a:srgbClr val="0D13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402336" cy="402336"/>
          </a:xfrm>
          <a:prstGeom prst="ellipse">
            <a:avLst/>
          </a:prstGeom>
          <a:solidFill>
            <a:srgbClr val="2E5EA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67" y="1519367"/>
            <a:ext cx="289682" cy="28968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60704" y="14904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Overview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011680"/>
            <a:ext cx="402336" cy="402336"/>
          </a:xfrm>
          <a:prstGeom prst="ellipse">
            <a:avLst/>
          </a:prstGeom>
          <a:solidFill>
            <a:srgbClr val="2E5EA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967" y="2068007"/>
            <a:ext cx="289682" cy="28968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60704" y="20391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Performance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2560320"/>
            <a:ext cx="402336" cy="402336"/>
          </a:xfrm>
          <a:prstGeom prst="ellipse">
            <a:avLst/>
          </a:prstGeom>
          <a:solidFill>
            <a:srgbClr val="2E5EA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967" y="2616647"/>
            <a:ext cx="289682" cy="28968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60704" y="25877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Analytics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48640" y="3108960"/>
            <a:ext cx="402336" cy="402336"/>
          </a:xfrm>
          <a:prstGeom prst="ellipse">
            <a:avLst/>
          </a:prstGeom>
          <a:solidFill>
            <a:srgbClr val="2E5EA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967" y="3165287"/>
            <a:ext cx="289682" cy="28968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60704" y="31363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&amp; Market Trends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3657600"/>
            <a:ext cx="402336" cy="402336"/>
          </a:xfrm>
          <a:prstGeom prst="ellipse">
            <a:avLst/>
          </a:prstGeom>
          <a:solidFill>
            <a:srgbClr val="2E5EA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967" y="3713927"/>
            <a:ext cx="289682" cy="28968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60704" y="36850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NAV Details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457200" y="47594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</a:t>
            </a:r>
            <a:endParaRPr lang="en-US" sz="850" dirty="0"/>
          </a:p>
        </p:txBody>
      </p:sp>
      <p:sp>
        <p:nvSpPr>
          <p:cNvPr id="24" name="Text 17"/>
          <p:cNvSpPr/>
          <p:nvPr/>
        </p:nvSpPr>
        <p:spPr>
          <a:xfrm>
            <a:off x="850392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9776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31520" y="1499616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968" y="1561064"/>
            <a:ext cx="316017" cy="3160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35024" y="1280160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AUM increased steadily.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800600" y="1188720"/>
            <a:ext cx="39776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4983480" y="1499616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4928" y="1561064"/>
            <a:ext cx="316017" cy="31601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86984" y="1280160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inflows showed continuous growth.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2322576"/>
            <a:ext cx="39776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731520" y="2633472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968" y="2694920"/>
            <a:ext cx="316017" cy="31601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35024" y="2414016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Large-cap funds demonstrated stable performance.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800600" y="2322576"/>
            <a:ext cx="39776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4983480" y="2633472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4928" y="2694920"/>
            <a:ext cx="316017" cy="31601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86984" y="2414016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 identified better risk-adjusted returns.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48640" y="3456432"/>
            <a:ext cx="39776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4"/>
          <p:cNvSpPr/>
          <p:nvPr/>
        </p:nvSpPr>
        <p:spPr>
          <a:xfrm>
            <a:off x="731520" y="3767328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968" y="3828776"/>
            <a:ext cx="316017" cy="31601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35024" y="3547872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analysis highlighted investor retention.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4800600" y="3456432"/>
            <a:ext cx="39776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7"/>
          <p:cNvSpPr/>
          <p:nvPr/>
        </p:nvSpPr>
        <p:spPr>
          <a:xfrm>
            <a:off x="4983480" y="3767328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4928" y="3828776"/>
            <a:ext cx="316017" cy="316017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586984" y="3547872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 classified funds using CAGR and Sharpe Ratio.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457200" y="47594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B7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</a:t>
            </a:r>
            <a:endParaRPr lang="en-US" sz="850" dirty="0"/>
          </a:p>
        </p:txBody>
      </p:sp>
      <p:sp>
        <p:nvSpPr>
          <p:cNvPr id="28" name="Text 20"/>
          <p:cNvSpPr/>
          <p:nvPr/>
        </p:nvSpPr>
        <p:spPr>
          <a:xfrm>
            <a:off x="850392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F5F8FD"/>
          </a:solidFill>
          <a:ln/>
          <a:effectLst>
            <a:outerShdw blurRad="63500" dist="25400" dir="27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Bluestock Mutual Fund Analytics project successfully integrated data engineering, financial analytics, and business intelligence into one end-to-end solution for mutual fund analysis.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7C8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234440" y="2999232"/>
            <a:ext cx="6675120" cy="0"/>
          </a:xfrm>
          <a:prstGeom prst="line">
            <a:avLst/>
          </a:prstGeom>
          <a:noFill/>
          <a:ln w="25400">
            <a:solidFill>
              <a:srgbClr val="CFD8ED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78408" y="274320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97" y="2814889"/>
            <a:ext cx="368686" cy="36868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3364992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NAV updates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647188" y="2743200"/>
            <a:ext cx="512064" cy="512064"/>
          </a:xfrm>
          <a:prstGeom prst="ellipse">
            <a:avLst/>
          </a:prstGeom>
          <a:solidFill>
            <a:srgbClr val="2E5EA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8877" y="2814889"/>
            <a:ext cx="368686" cy="3686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25980" y="3364992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Application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315968" y="274320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7657" y="2814889"/>
            <a:ext cx="368686" cy="36868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794760" y="3364992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Simulation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984748" y="2743200"/>
            <a:ext cx="512064" cy="512064"/>
          </a:xfrm>
          <a:prstGeom prst="ellipse">
            <a:avLst/>
          </a:prstGeom>
          <a:solidFill>
            <a:srgbClr val="2E5EA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6437" y="2814889"/>
            <a:ext cx="368686" cy="36868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63540" y="3364992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Optimisation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653528" y="274320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5217" y="2814889"/>
            <a:ext cx="368686" cy="36868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32320" y="3364992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Recommendation System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457200" y="47594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B7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</a:t>
            </a:r>
            <a:endParaRPr lang="en-US" sz="850" dirty="0"/>
          </a:p>
        </p:txBody>
      </p:sp>
      <p:sp>
        <p:nvSpPr>
          <p:cNvPr id="23" name="Text 16"/>
          <p:cNvSpPr/>
          <p:nvPr/>
        </p:nvSpPr>
        <p:spPr>
          <a:xfrm>
            <a:off x="850392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4206240" cy="420624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132320" y="2560320"/>
            <a:ext cx="3657600" cy="365760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863840" y="-548640"/>
            <a:ext cx="1828800" cy="1828800"/>
          </a:xfrm>
          <a:prstGeom prst="ellipse">
            <a:avLst/>
          </a:prstGeom>
          <a:solidFill>
            <a:srgbClr val="2E5EA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279392" y="1051560"/>
            <a:ext cx="585216" cy="585216"/>
          </a:xfrm>
          <a:prstGeom prst="ellipse">
            <a:avLst/>
          </a:prstGeom>
          <a:solidFill>
            <a:srgbClr val="2E5EA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322" y="1133490"/>
            <a:ext cx="421356" cy="4213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0" y="18745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0" y="3566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8A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0" y="382219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Ashwini Sharma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0" y="4709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100" dirty="0">
                <a:solidFill>
                  <a:srgbClr val="6B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  </a:t>
            </a:r>
            <a:r>
              <a:rPr lang="en-US" sz="950" kern="0" spc="100">
                <a:solidFill>
                  <a:srgbClr val="6B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r>
              <a:rPr lang="en-US" sz="950" kern="0" spc="100" dirty="0">
                <a:solidFill>
                  <a:srgbClr val="6B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522</Words>
  <Application>Microsoft Office PowerPoint</Application>
  <PresentationFormat>On-screen Show (16:9)</PresentationFormat>
  <Paragraphs>161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Mutual Fund Analytics</dc:title>
  <dc:subject>PptxGenJS Presentation</dc:subject>
  <dc:creator>Ashwini Sharma</dc:creator>
  <cp:lastModifiedBy>arun sharma</cp:lastModifiedBy>
  <cp:revision>2</cp:revision>
  <dcterms:created xsi:type="dcterms:W3CDTF">2026-07-08T16:16:24Z</dcterms:created>
  <dcterms:modified xsi:type="dcterms:W3CDTF">2026-07-08T16:20:14Z</dcterms:modified>
</cp:coreProperties>
</file>